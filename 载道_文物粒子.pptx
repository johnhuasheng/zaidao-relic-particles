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0"/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封面。右侧金色粒子聚成“道”字。点击翻页，每一页的文物都会从尘埃中凝聚成形并持续旋转。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良渚玉琮，新石器时代良渚文化的玉礼器。重点讲“外方内圆”的形制和四角的神人兽面纹。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后母戊鼎，通高133厘米、重832.84千克。可以讲陶范合铸工艺与“鼎”作为国家权力象征的意义。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越王勾践剑，1965年湖北江陵出土。讲菱形暗格纹、鸟篆铭文，以及“卧薪尝胆”的故事。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元青花梅瓶，景德镇窑。讲梅瓶名称的由来与元青花的钴料发色。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四件文物按年代并列：新石器、商、春秋、元，跨越约五千年。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过渡页：玉、铜、瓷三股光河交织，四件文物顺流而下，象征五千年文明一脉相承。底部时间轴标出四件文物的年代。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结尾：万点粒子聚成青绿山水。可停留在这一页进行总结。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_dust" descr="C:\Users\HJK\Desktop\vibe coding作品\中国文物视频\ppt\assets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eal_box"/>
          <p:cNvSpPr/>
          <p:nvPr/>
        </p:nvSpPr>
        <p:spPr>
          <a:xfrm>
            <a:off x="1280160" y="1920240"/>
            <a:ext cx="585216" cy="585216"/>
          </a:xfrm>
          <a:prstGeom prst="rect">
            <a:avLst/>
          </a:prstGeom>
          <a:solidFill>
            <a:srgbClr val="B8432F">
              <a:alpha val="8000"/>
            </a:srgbClr>
          </a:solidFill>
          <a:ln w="28575">
            <a:solidFill>
              <a:srgbClr val="B8432F"/>
            </a:solidFill>
            <a:prstDash val="solid"/>
          </a:ln>
        </p:spPr>
      </p:sp>
      <p:sp>
        <p:nvSpPr>
          <p:cNvPr id="5" name="seal_text"/>
          <p:cNvSpPr txBox="1"/>
          <p:nvPr/>
        </p:nvSpPr>
        <p:spPr>
          <a:xfrm>
            <a:off x="1280160" y="1956816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C951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國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C951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寶</a:t>
            </a:r>
            <a:endParaRPr lang="en-US" sz="1700" dirty="0"/>
          </a:p>
        </p:txBody>
      </p:sp>
      <p:sp>
        <p:nvSpPr>
          <p:cNvPr id="6" name="kicker"/>
          <p:cNvSpPr txBox="1"/>
          <p:nvPr/>
        </p:nvSpPr>
        <p:spPr>
          <a:xfrm>
            <a:off x="2093976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5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VESSELS OF THE WAY</a:t>
            </a:r>
            <a:endParaRPr lang="en-US" sz="1300" dirty="0"/>
          </a:p>
        </p:txBody>
      </p:sp>
      <p:sp>
        <p:nvSpPr>
          <p:cNvPr id="7" name="title"/>
          <p:cNvSpPr txBox="1"/>
          <p:nvPr/>
        </p:nvSpPr>
        <p:spPr>
          <a:xfrm>
            <a:off x="2029968" y="173736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spc="12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载道</a:t>
            </a:r>
            <a:endParaRPr lang="en-US" sz="8000" dirty="0"/>
          </a:p>
        </p:txBody>
      </p:sp>
      <p:sp>
        <p:nvSpPr>
          <p:cNvPr id="8" name="subtitle"/>
          <p:cNvSpPr txBox="1"/>
          <p:nvPr/>
        </p:nvSpPr>
        <p:spPr>
          <a:xfrm>
            <a:off x="2093976" y="3200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B9BDB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器以载道。五千年的光，在尘埃里重新聚拢。</a:t>
            </a:r>
            <a:endParaRPr lang="en-US" sz="1400" dirty="0"/>
          </a:p>
        </p:txBody>
      </p:sp>
      <p:sp>
        <p:nvSpPr>
          <p:cNvPr id="9" name="gold_line"/>
          <p:cNvSpPr/>
          <p:nvPr/>
        </p:nvSpPr>
        <p:spPr>
          <a:xfrm>
            <a:off x="2093976" y="3730752"/>
            <a:ext cx="2651760" cy="0"/>
          </a:xfrm>
          <a:prstGeom prst="line">
            <a:avLst/>
          </a:prstGeom>
          <a:noFill/>
          <a:ln w="9525">
            <a:solidFill>
              <a:srgbClr val="D8B36A"/>
            </a:solidFill>
            <a:prstDash val="solid"/>
          </a:ln>
        </p:spPr>
      </p:sp>
      <p:sp>
        <p:nvSpPr>
          <p:cNvPr id="10" name="start_dot"/>
          <p:cNvSpPr/>
          <p:nvPr/>
        </p:nvSpPr>
        <p:spPr>
          <a:xfrm>
            <a:off x="2093976" y="4261104"/>
            <a:ext cx="64008" cy="64008"/>
          </a:xfrm>
          <a:prstGeom prst="ellipse">
            <a:avLst/>
          </a:prstGeom>
          <a:solidFill>
            <a:srgbClr val="D8B36A"/>
          </a:solidFill>
          <a:ln/>
        </p:spPr>
      </p:sp>
      <p:sp>
        <p:nvSpPr>
          <p:cNvPr id="11" name="start_text"/>
          <p:cNvSpPr txBox="1"/>
          <p:nvPr/>
        </p:nvSpPr>
        <p:spPr>
          <a:xfrm>
            <a:off x="228600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600" kern="0" dirty="0">
                <a:solidFill>
                  <a:srgbClr val="9AA19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中国文物 · 粒子特展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950976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NEOLITHIC RITUAL JADE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950976" y="21031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2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良渚玉琮</a:t>
            </a:r>
            <a:endParaRPr lang="en-US" sz="3400" dirty="0"/>
          </a:p>
        </p:txBody>
      </p:sp>
      <p:sp>
        <p:nvSpPr>
          <p:cNvPr id="6" name="en"/>
          <p:cNvSpPr txBox="1"/>
          <p:nvPr/>
        </p:nvSpPr>
        <p:spPr>
          <a:xfrm>
            <a:off x="950976" y="27797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CF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LIANGZHU JADE CONG</a:t>
            </a:r>
            <a:endParaRPr lang="en-US" sz="1100" dirty="0"/>
          </a:p>
        </p:txBody>
      </p:sp>
      <p:sp>
        <p:nvSpPr>
          <p:cNvPr id="7" name="meta_line"/>
          <p:cNvSpPr/>
          <p:nvPr/>
        </p:nvSpPr>
        <p:spPr>
          <a:xfrm>
            <a:off x="950976" y="3227832"/>
            <a:ext cx="164592" cy="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8" name="meta"/>
          <p:cNvSpPr txBox="1"/>
          <p:nvPr/>
        </p:nvSpPr>
        <p:spPr>
          <a:xfrm>
            <a:off x="1207008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良渚文化 · 距今约五千年</a:t>
            </a:r>
            <a:endParaRPr lang="en-US" sz="950" dirty="0"/>
          </a:p>
        </p:txBody>
      </p:sp>
      <p:sp>
        <p:nvSpPr>
          <p:cNvPr id="9" name="sub"/>
          <p:cNvSpPr txBox="1"/>
          <p:nvPr/>
        </p:nvSpPr>
        <p:spPr>
          <a:xfrm>
            <a:off x="950976" y="34930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FE9D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外方内圆，以琮礼地</a:t>
            </a:r>
            <a:endParaRPr lang="en-US" sz="1800" dirty="0"/>
          </a:p>
        </p:txBody>
      </p:sp>
      <p:sp>
        <p:nvSpPr>
          <p:cNvPr id="10" name="desc"/>
          <p:cNvSpPr txBox="1"/>
          <p:nvPr/>
        </p:nvSpPr>
        <p:spPr>
          <a:xfrm>
            <a:off x="950976" y="4041648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EB5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良渚先民礼地的神器。外方而内圆，节节相叠，四角以细如发丝的阴线琢出神人兽面——在没有金属工具的年代，一线一刻，皆是时间。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6922008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RITUAL CAULDRON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922008" y="21031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2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后母戊鼎</a:t>
            </a:r>
            <a:endParaRPr lang="en-US" sz="3400" dirty="0"/>
          </a:p>
        </p:txBody>
      </p:sp>
      <p:sp>
        <p:nvSpPr>
          <p:cNvPr id="6" name="en"/>
          <p:cNvSpPr txBox="1"/>
          <p:nvPr/>
        </p:nvSpPr>
        <p:spPr>
          <a:xfrm>
            <a:off x="6922008" y="27797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CF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HOUMUWU DING</a:t>
            </a:r>
            <a:endParaRPr lang="en-US" sz="1100" dirty="0"/>
          </a:p>
        </p:txBody>
      </p:sp>
      <p:sp>
        <p:nvSpPr>
          <p:cNvPr id="7" name="meta_line"/>
          <p:cNvSpPr/>
          <p:nvPr/>
        </p:nvSpPr>
        <p:spPr>
          <a:xfrm>
            <a:off x="6922008" y="3227832"/>
            <a:ext cx="164592" cy="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8" name="meta"/>
          <p:cNvSpPr txBox="1"/>
          <p:nvPr/>
        </p:nvSpPr>
        <p:spPr>
          <a:xfrm>
            <a:off x="717804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商代晚期 · 中国国家博物馆</a:t>
            </a:r>
            <a:endParaRPr lang="en-US" sz="950" dirty="0"/>
          </a:p>
        </p:txBody>
      </p:sp>
      <p:sp>
        <p:nvSpPr>
          <p:cNvPr id="9" name="sub"/>
          <p:cNvSpPr txBox="1"/>
          <p:nvPr/>
        </p:nvSpPr>
        <p:spPr>
          <a:xfrm>
            <a:off x="6922008" y="34930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FE9D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鼎立千年，国之重器</a:t>
            </a:r>
            <a:endParaRPr lang="en-US" sz="1800" dirty="0"/>
          </a:p>
        </p:txBody>
      </p:sp>
      <p:sp>
        <p:nvSpPr>
          <p:cNvPr id="10" name="desc"/>
          <p:cNvSpPr txBox="1"/>
          <p:nvPr/>
        </p:nvSpPr>
        <p:spPr>
          <a:xfrm>
            <a:off x="6922008" y="4041648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EB5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商王为祭祀母亲“戊”而铸，通高133厘米，重832.84千克，是已知最重的中国古代青铜器。四壁饕餮盘踞，双耳猛虎衔首——一器之重，即一国之重。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950976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SWORD OF YUE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950976" y="21031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2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越王勾践剑</a:t>
            </a:r>
            <a:endParaRPr lang="en-US" sz="3400" dirty="0"/>
          </a:p>
        </p:txBody>
      </p:sp>
      <p:sp>
        <p:nvSpPr>
          <p:cNvPr id="6" name="en"/>
          <p:cNvSpPr txBox="1"/>
          <p:nvPr/>
        </p:nvSpPr>
        <p:spPr>
          <a:xfrm>
            <a:off x="950976" y="27797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CF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SWORD OF GOUJIAN</a:t>
            </a:r>
            <a:endParaRPr lang="en-US" sz="1100" dirty="0"/>
          </a:p>
        </p:txBody>
      </p:sp>
      <p:sp>
        <p:nvSpPr>
          <p:cNvPr id="7" name="meta_line"/>
          <p:cNvSpPr/>
          <p:nvPr/>
        </p:nvSpPr>
        <p:spPr>
          <a:xfrm>
            <a:off x="950976" y="3227832"/>
            <a:ext cx="164592" cy="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8" name="meta"/>
          <p:cNvSpPr txBox="1"/>
          <p:nvPr/>
        </p:nvSpPr>
        <p:spPr>
          <a:xfrm>
            <a:off x="1207008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春秋晚期 · 湖北省博物馆</a:t>
            </a:r>
            <a:endParaRPr lang="en-US" sz="950" dirty="0"/>
          </a:p>
        </p:txBody>
      </p:sp>
      <p:sp>
        <p:nvSpPr>
          <p:cNvPr id="9" name="sub"/>
          <p:cNvSpPr txBox="1"/>
          <p:nvPr/>
        </p:nvSpPr>
        <p:spPr>
          <a:xfrm>
            <a:off x="950976" y="34930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FE9D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卧薪尝胆，锋芒未老</a:t>
            </a:r>
            <a:endParaRPr lang="en-US" sz="1800" dirty="0"/>
          </a:p>
        </p:txBody>
      </p:sp>
      <p:sp>
        <p:nvSpPr>
          <p:cNvPr id="10" name="desc"/>
          <p:cNvSpPr txBox="1"/>
          <p:nvPr/>
        </p:nvSpPr>
        <p:spPr>
          <a:xfrm>
            <a:off x="950976" y="4041648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EB5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1965年出土于湖北江陵，长55.7厘米。剑身满布菱形暗格纹，剑格嵌蓝色琉璃与绿松石，近格处八字鸟篆：“越王鸠浅，自乍用剑”。沉睡两千余年，出鞘依旧寒光逼人。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6922008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BLUE-AND-WHITE PORCELAIN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6922008" y="21031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2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元青花梅瓶</a:t>
            </a:r>
            <a:endParaRPr lang="en-US" sz="3400" dirty="0"/>
          </a:p>
        </p:txBody>
      </p:sp>
      <p:sp>
        <p:nvSpPr>
          <p:cNvPr id="6" name="en"/>
          <p:cNvSpPr txBox="1"/>
          <p:nvPr/>
        </p:nvSpPr>
        <p:spPr>
          <a:xfrm>
            <a:off x="6922008" y="27797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CF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YUAN DYNASTY MEIPING</a:t>
            </a:r>
            <a:endParaRPr lang="en-US" sz="1100" dirty="0"/>
          </a:p>
        </p:txBody>
      </p:sp>
      <p:sp>
        <p:nvSpPr>
          <p:cNvPr id="7" name="meta_line"/>
          <p:cNvSpPr/>
          <p:nvPr/>
        </p:nvSpPr>
        <p:spPr>
          <a:xfrm>
            <a:off x="6922008" y="3227832"/>
            <a:ext cx="164592" cy="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8" name="meta"/>
          <p:cNvSpPr txBox="1"/>
          <p:nvPr/>
        </p:nvSpPr>
        <p:spPr>
          <a:xfrm>
            <a:off x="7178040" y="3136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元代 · 景德镇窑</a:t>
            </a:r>
            <a:endParaRPr lang="en-US" sz="950" dirty="0"/>
          </a:p>
        </p:txBody>
      </p:sp>
      <p:sp>
        <p:nvSpPr>
          <p:cNvPr id="9" name="sub"/>
          <p:cNvSpPr txBox="1"/>
          <p:nvPr/>
        </p:nvSpPr>
        <p:spPr>
          <a:xfrm>
            <a:off x="6922008" y="34930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FE9D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青花一笔，白地生云</a:t>
            </a:r>
            <a:endParaRPr lang="en-US" sz="1800" dirty="0"/>
          </a:p>
        </p:txBody>
      </p:sp>
      <p:sp>
        <p:nvSpPr>
          <p:cNvPr id="10" name="desc"/>
          <p:cNvSpPr txBox="1"/>
          <p:nvPr/>
        </p:nvSpPr>
        <p:spPr>
          <a:xfrm>
            <a:off x="6922008" y="4041648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AEB5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小口、丰肩、瘦底，口小仅容梅之瘦骨，故名梅瓶。元代景德镇以进口钴料绘云龙、云肩与莲瓣，发色浓艳，白地如玉，开一代青花之风。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0" y="914400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THOUSAND YEARS · FOUR RELICS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0" y="120700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spc="12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五千年 · 四件器</a:t>
            </a:r>
            <a:endParaRPr lang="en-US" sz="2400" dirty="0"/>
          </a:p>
        </p:txBody>
      </p:sp>
      <p:sp>
        <p:nvSpPr>
          <p:cNvPr id="6" name="tick0"/>
          <p:cNvSpPr/>
          <p:nvPr/>
        </p:nvSpPr>
        <p:spPr>
          <a:xfrm>
            <a:off x="2761126" y="4645152"/>
            <a:ext cx="0" cy="18288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7" name="lab0"/>
          <p:cNvSpPr txBox="1"/>
          <p:nvPr/>
        </p:nvSpPr>
        <p:spPr>
          <a:xfrm>
            <a:off x="1846726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良渚玉琮</a:t>
            </a:r>
            <a:endParaRPr lang="en-US" sz="1200" dirty="0"/>
          </a:p>
        </p:txBody>
      </p:sp>
      <p:sp>
        <p:nvSpPr>
          <p:cNvPr id="8" name="era0"/>
          <p:cNvSpPr txBox="1"/>
          <p:nvPr/>
        </p:nvSpPr>
        <p:spPr>
          <a:xfrm>
            <a:off x="1846726" y="5212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新石器时代</a:t>
            </a:r>
            <a:endParaRPr lang="en-US" sz="850" dirty="0"/>
          </a:p>
        </p:txBody>
      </p:sp>
      <p:sp>
        <p:nvSpPr>
          <p:cNvPr id="9" name="tick1"/>
          <p:cNvSpPr/>
          <p:nvPr/>
        </p:nvSpPr>
        <p:spPr>
          <a:xfrm>
            <a:off x="4984579" y="4645152"/>
            <a:ext cx="0" cy="18288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10" name="lab1"/>
          <p:cNvSpPr txBox="1"/>
          <p:nvPr/>
        </p:nvSpPr>
        <p:spPr>
          <a:xfrm>
            <a:off x="4070179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后母戊鼎</a:t>
            </a:r>
            <a:endParaRPr lang="en-US" sz="1200" dirty="0"/>
          </a:p>
        </p:txBody>
      </p:sp>
      <p:sp>
        <p:nvSpPr>
          <p:cNvPr id="11" name="era1"/>
          <p:cNvSpPr txBox="1"/>
          <p:nvPr/>
        </p:nvSpPr>
        <p:spPr>
          <a:xfrm>
            <a:off x="4070179" y="5212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商</a:t>
            </a:r>
            <a:endParaRPr lang="en-US" sz="850" dirty="0"/>
          </a:p>
        </p:txBody>
      </p:sp>
      <p:sp>
        <p:nvSpPr>
          <p:cNvPr id="12" name="tick2"/>
          <p:cNvSpPr/>
          <p:nvPr/>
        </p:nvSpPr>
        <p:spPr>
          <a:xfrm>
            <a:off x="7208031" y="4645152"/>
            <a:ext cx="0" cy="18288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13" name="lab2"/>
          <p:cNvSpPr txBox="1"/>
          <p:nvPr/>
        </p:nvSpPr>
        <p:spPr>
          <a:xfrm>
            <a:off x="6293631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越王勾践剑</a:t>
            </a:r>
            <a:endParaRPr lang="en-US" sz="1200" dirty="0"/>
          </a:p>
        </p:txBody>
      </p:sp>
      <p:sp>
        <p:nvSpPr>
          <p:cNvPr id="14" name="era2"/>
          <p:cNvSpPr txBox="1"/>
          <p:nvPr/>
        </p:nvSpPr>
        <p:spPr>
          <a:xfrm>
            <a:off x="6293631" y="5212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春秋</a:t>
            </a:r>
            <a:endParaRPr lang="en-US" sz="850" dirty="0"/>
          </a:p>
        </p:txBody>
      </p:sp>
      <p:sp>
        <p:nvSpPr>
          <p:cNvPr id="15" name="tick3"/>
          <p:cNvSpPr/>
          <p:nvPr/>
        </p:nvSpPr>
        <p:spPr>
          <a:xfrm>
            <a:off x="9431484" y="4645152"/>
            <a:ext cx="0" cy="182880"/>
          </a:xfrm>
          <a:prstGeom prst="line">
            <a:avLst/>
          </a:prstGeom>
          <a:noFill/>
          <a:ln w="9525">
            <a:solidFill>
              <a:srgbClr val="B8964F"/>
            </a:solidFill>
            <a:prstDash val="solid"/>
          </a:ln>
        </p:spPr>
      </p:sp>
      <p:sp>
        <p:nvSpPr>
          <p:cNvPr id="16" name="lab3"/>
          <p:cNvSpPr txBox="1"/>
          <p:nvPr/>
        </p:nvSpPr>
        <p:spPr>
          <a:xfrm>
            <a:off x="8517084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元青花梅瓶</a:t>
            </a:r>
            <a:endParaRPr lang="en-US" sz="1200" dirty="0"/>
          </a:p>
        </p:txBody>
      </p:sp>
      <p:sp>
        <p:nvSpPr>
          <p:cNvPr id="17" name="era3"/>
          <p:cNvSpPr txBox="1"/>
          <p:nvPr/>
        </p:nvSpPr>
        <p:spPr>
          <a:xfrm>
            <a:off x="8517084" y="5212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4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6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61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0" y="914400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D8B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CONTINUOUS RIVER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0" y="120700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spc="1400" kern="0" dirty="0">
                <a:solidFill>
                  <a:srgbClr val="D8B3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千年一脉</a:t>
            </a:r>
            <a:endParaRPr lang="en-US" sz="2600" dirty="0"/>
          </a:p>
        </p:txBody>
      </p:sp>
      <p:sp>
        <p:nvSpPr>
          <p:cNvPr id="6" name="sub"/>
          <p:cNvSpPr txBox="1"/>
          <p:nvPr/>
        </p:nvSpPr>
        <p:spPr>
          <a:xfrm>
            <a:off x="0" y="182880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B7BCB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从玉到铜，从剑到瓷——器物如河，奔流不息。</a:t>
            </a:r>
            <a:endParaRPr lang="en-US" sz="1300" dirty="0"/>
          </a:p>
        </p:txBody>
      </p:sp>
      <p:sp>
        <p:nvSpPr>
          <p:cNvPr id="7" name="tl_line"/>
          <p:cNvSpPr/>
          <p:nvPr/>
        </p:nvSpPr>
        <p:spPr>
          <a:xfrm>
            <a:off x="2194560" y="5650992"/>
            <a:ext cx="7799832" cy="0"/>
          </a:xfrm>
          <a:prstGeom prst="line">
            <a:avLst/>
          </a:prstGeom>
          <a:noFill/>
          <a:ln w="9525">
            <a:solidFill>
              <a:srgbClr val="4A5650"/>
            </a:solidFill>
            <a:prstDash val="solid"/>
          </a:ln>
        </p:spPr>
      </p:sp>
      <p:sp>
        <p:nvSpPr>
          <p:cNvPr id="8" name="tl_dot0"/>
          <p:cNvSpPr/>
          <p:nvPr/>
        </p:nvSpPr>
        <p:spPr>
          <a:xfrm>
            <a:off x="2139696" y="5596128"/>
            <a:ext cx="109728" cy="109728"/>
          </a:xfrm>
          <a:prstGeom prst="ellipse">
            <a:avLst/>
          </a:prstGeom>
          <a:solidFill>
            <a:srgbClr val="D8B36A"/>
          </a:solidFill>
          <a:ln w="19050">
            <a:solidFill>
              <a:srgbClr val="121A17"/>
            </a:solidFill>
            <a:prstDash val="solid"/>
          </a:ln>
        </p:spPr>
      </p:sp>
      <p:sp>
        <p:nvSpPr>
          <p:cNvPr id="9" name="tl_era0"/>
          <p:cNvSpPr txBox="1"/>
          <p:nvPr/>
        </p:nvSpPr>
        <p:spPr>
          <a:xfrm>
            <a:off x="1097280" y="57972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良渚 · 新石器时代</a:t>
            </a:r>
            <a:endParaRPr lang="en-US" sz="1100" dirty="0"/>
          </a:p>
        </p:txBody>
      </p:sp>
      <p:sp>
        <p:nvSpPr>
          <p:cNvPr id="10" name="tl_year0"/>
          <p:cNvSpPr txBox="1"/>
          <p:nvPr/>
        </p:nvSpPr>
        <p:spPr>
          <a:xfrm>
            <a:off x="1097280" y="6053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约公元前 3300 年</a:t>
            </a:r>
            <a:endParaRPr lang="en-US" sz="850" dirty="0"/>
          </a:p>
        </p:txBody>
      </p:sp>
      <p:sp>
        <p:nvSpPr>
          <p:cNvPr id="11" name="tl_dot1"/>
          <p:cNvSpPr/>
          <p:nvPr/>
        </p:nvSpPr>
        <p:spPr>
          <a:xfrm>
            <a:off x="4739640" y="5596128"/>
            <a:ext cx="109728" cy="109728"/>
          </a:xfrm>
          <a:prstGeom prst="ellipse">
            <a:avLst/>
          </a:prstGeom>
          <a:solidFill>
            <a:srgbClr val="D8B36A"/>
          </a:solidFill>
          <a:ln w="19050">
            <a:solidFill>
              <a:srgbClr val="121A17"/>
            </a:solidFill>
            <a:prstDash val="solid"/>
          </a:ln>
        </p:spPr>
      </p:sp>
      <p:sp>
        <p:nvSpPr>
          <p:cNvPr id="12" name="tl_era1"/>
          <p:cNvSpPr txBox="1"/>
          <p:nvPr/>
        </p:nvSpPr>
        <p:spPr>
          <a:xfrm>
            <a:off x="3697224" y="57972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殷商</a:t>
            </a:r>
            <a:endParaRPr lang="en-US" sz="1100" dirty="0"/>
          </a:p>
        </p:txBody>
      </p:sp>
      <p:sp>
        <p:nvSpPr>
          <p:cNvPr id="13" name="tl_year1"/>
          <p:cNvSpPr txBox="1"/>
          <p:nvPr/>
        </p:nvSpPr>
        <p:spPr>
          <a:xfrm>
            <a:off x="3697224" y="6053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约公元前 1200 年</a:t>
            </a:r>
            <a:endParaRPr lang="en-US" sz="850" dirty="0"/>
          </a:p>
        </p:txBody>
      </p:sp>
      <p:sp>
        <p:nvSpPr>
          <p:cNvPr id="14" name="tl_dot2"/>
          <p:cNvSpPr/>
          <p:nvPr/>
        </p:nvSpPr>
        <p:spPr>
          <a:xfrm>
            <a:off x="7339584" y="5596128"/>
            <a:ext cx="109728" cy="109728"/>
          </a:xfrm>
          <a:prstGeom prst="ellipse">
            <a:avLst/>
          </a:prstGeom>
          <a:solidFill>
            <a:srgbClr val="D8B36A"/>
          </a:solidFill>
          <a:ln w="19050">
            <a:solidFill>
              <a:srgbClr val="121A17"/>
            </a:solidFill>
            <a:prstDash val="solid"/>
          </a:ln>
        </p:spPr>
      </p:sp>
      <p:sp>
        <p:nvSpPr>
          <p:cNvPr id="15" name="tl_era2"/>
          <p:cNvSpPr txBox="1"/>
          <p:nvPr/>
        </p:nvSpPr>
        <p:spPr>
          <a:xfrm>
            <a:off x="6297168" y="57972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春秋 · 越国</a:t>
            </a:r>
            <a:endParaRPr lang="en-US" sz="1100" dirty="0"/>
          </a:p>
        </p:txBody>
      </p:sp>
      <p:sp>
        <p:nvSpPr>
          <p:cNvPr id="16" name="tl_year2"/>
          <p:cNvSpPr txBox="1"/>
          <p:nvPr/>
        </p:nvSpPr>
        <p:spPr>
          <a:xfrm>
            <a:off x="6297168" y="6053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约公元前 500 年</a:t>
            </a:r>
            <a:endParaRPr lang="en-US" sz="850" dirty="0"/>
          </a:p>
        </p:txBody>
      </p:sp>
      <p:sp>
        <p:nvSpPr>
          <p:cNvPr id="17" name="tl_dot3"/>
          <p:cNvSpPr/>
          <p:nvPr/>
        </p:nvSpPr>
        <p:spPr>
          <a:xfrm>
            <a:off x="9939528" y="5596128"/>
            <a:ext cx="109728" cy="109728"/>
          </a:xfrm>
          <a:prstGeom prst="ellipse">
            <a:avLst/>
          </a:prstGeom>
          <a:solidFill>
            <a:srgbClr val="D8B36A"/>
          </a:solidFill>
          <a:ln w="19050">
            <a:solidFill>
              <a:srgbClr val="121A17"/>
            </a:solidFill>
            <a:prstDash val="solid"/>
          </a:ln>
        </p:spPr>
      </p:sp>
      <p:sp>
        <p:nvSpPr>
          <p:cNvPr id="18" name="tl_era3"/>
          <p:cNvSpPr txBox="1"/>
          <p:nvPr/>
        </p:nvSpPr>
        <p:spPr>
          <a:xfrm>
            <a:off x="8897112" y="57972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6DCC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元</a:t>
            </a:r>
            <a:endParaRPr lang="en-US" sz="1100" dirty="0"/>
          </a:p>
        </p:txBody>
      </p:sp>
      <p:sp>
        <p:nvSpPr>
          <p:cNvPr id="19" name="tl_year3"/>
          <p:cNvSpPr txBox="1"/>
          <p:nvPr/>
        </p:nvSpPr>
        <p:spPr>
          <a:xfrm>
            <a:off x="8897112" y="6053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D978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约公元 1300 年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40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4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5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48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6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0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17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/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950976" y="7132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600" kern="0" dirty="0">
                <a:solidFill>
                  <a:srgbClr val="D8B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RELICS, ONE LANDSCAPE</a:t>
            </a:r>
            <a:endParaRPr lang="en-US" sz="1000" dirty="0"/>
          </a:p>
        </p:txBody>
      </p:sp>
      <p:sp>
        <p:nvSpPr>
          <p:cNvPr id="5" name="title"/>
          <p:cNvSpPr txBox="1"/>
          <p:nvPr/>
        </p:nvSpPr>
        <p:spPr>
          <a:xfrm>
            <a:off x="950976" y="9875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spc="400" kern="0" dirty="0">
                <a:solidFill>
                  <a:srgbClr val="F1EAD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器以载道，万点成山河</a:t>
            </a:r>
            <a:endParaRPr lang="en-US" sz="3600" dirty="0"/>
          </a:p>
        </p:txBody>
      </p:sp>
      <p:sp>
        <p:nvSpPr>
          <p:cNvPr id="6" name="sub"/>
          <p:cNvSpPr txBox="1"/>
          <p:nvPr/>
        </p:nvSpPr>
        <p:spPr>
          <a:xfrm>
            <a:off x="950976" y="1810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B7BCB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文物不语，自有山河万里。</a:t>
            </a:r>
            <a:endParaRPr lang="en-US" sz="1300" dirty="0"/>
          </a:p>
        </p:txBody>
      </p:sp>
      <p:sp>
        <p:nvSpPr>
          <p:cNvPr id="7" name="end"/>
          <p:cNvSpPr txBox="1"/>
          <p:nvPr/>
        </p:nvSpPr>
        <p:spPr>
          <a:xfrm>
            <a:off x="950976" y="2331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000" kern="0" dirty="0">
                <a:solidFill>
                  <a:srgbClr val="B896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载道 · 完 —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10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载道 · 文物粒子</dc:title>
  <dc:subject>PptxGenJS Presentation</dc:subject>
  <dc:creator>PptxGenJS</dc:creator>
  <cp:lastModifiedBy>PptxGenJS</cp:lastModifiedBy>
  <cp:revision>1</cp:revision>
  <dcterms:created xsi:type="dcterms:W3CDTF">2026-10-01T07:08:10Z</dcterms:created>
  <dcterms:modified xsi:type="dcterms:W3CDTF">2026-10-01T07:08:10Z</dcterms:modified>
</cp:coreProperties>
</file>